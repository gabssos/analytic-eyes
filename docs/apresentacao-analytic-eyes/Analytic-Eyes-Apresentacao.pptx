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B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3484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Analytic Eyes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9FC1FF"/>
                </a:solidFill>
                <a:latin typeface="Calibri"/>
              </a:rPr>
              <a:t>Plataforma de Orquestração e Execução de Pipelines ETL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800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Apresentação Técnica e Institucional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9C7DE"/>
                </a:solidFill>
                <a:latin typeface="Calibri"/>
              </a:rPr>
              <a:t>Arquitetura, Infraestrutura AWS e Estimativa de Custos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SUMÁRIO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Visão geral e proposta de valor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Funcionalidades principais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Arquitetura da aplicação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Stack tecnológica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Fluxo de execução de uma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Segurança de credenciais (AWS Secrets Manager)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Infraestrutura como código (Terraform)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Arquitetura de rede e segurança na AWS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Estimativa de custos mensais e taxas</a:t>
            </a:r>
          </a:p>
          <a:p>
            <a:pPr>
              <a:spcAft>
                <a:spcPts val="1800"/>
              </a:spcAft>
            </a:pPr>
            <a:r>
              <a:rPr sz="1700">
                <a:solidFill>
                  <a:srgbClr val="0F213B"/>
                </a:solidFill>
                <a:latin typeface="Calibri"/>
              </a:rPr>
              <a:t>•  Lições aprendidas e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O que é o Analytic Eyes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Plataforma para criar, agendar e executar pipelines ETL escritas em Python, com isolamento de execução, rastreabilidade e controle de acesso por equipe.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97480"/>
            <a:ext cx="2606040" cy="310896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260604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13B"/>
                </a:solidFill>
                <a:latin typeface="Calibri"/>
              </a:rPr>
              <a:t>Isolamento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Cada execução roda em um container Docker próprio, com dependências isoladas por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697480"/>
            <a:ext cx="2606040" cy="310896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2697480"/>
            <a:ext cx="260604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9260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13B"/>
                </a:solidFill>
                <a:latin typeface="Calibri"/>
              </a:rPr>
              <a:t>Automação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429000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Agendamento recorrente via Celery Beat, encadeamento de pipelines e execução sob demanda.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697480"/>
            <a:ext cx="2606040" cy="310896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697480"/>
            <a:ext cx="260604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13B"/>
                </a:solidFill>
                <a:latin typeface="Calibri"/>
              </a:rPr>
              <a:t>Rastreabilidade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Histórico completo de execuções (runs), logs vinculados e status de cada disparo.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2697480"/>
            <a:ext cx="2606040" cy="310896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06840" y="2697480"/>
            <a:ext cx="2606040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9260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213B"/>
                </a:solidFill>
                <a:latin typeface="Calibri"/>
              </a:rPr>
              <a:t>Controle de acesso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429000"/>
            <a:ext cx="2240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Permissões por pipeline: visualizar, executar, editar ou administrar (owner).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Principais Funcionalidades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Criação, edição, exclusão e execução de pipelines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Editor de código Python integrado (Monaco Editor), com upload de arquivos .py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Suporte a requirements.txt e .env específicos por pipeline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Agendamento recorrente (dias/horário) via Celery Beat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Histórico de execuções (runs) com logs vinculados a cada disparo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Controle de acesso granular por pipeline (view / execute / edit / owner)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Execução isolada em container Docker dedicado por execução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Busca funcional de pipelines por nome, integrada ao header</a:t>
            </a:r>
          </a:p>
          <a:p>
            <a:pPr>
              <a:spcAft>
                <a:spcPts val="1600"/>
              </a:spcAft>
            </a:pPr>
            <a:r>
              <a:rPr sz="1650">
                <a:solidFill>
                  <a:srgbClr val="0F213B"/>
                </a:solidFill>
                <a:latin typeface="Calibri"/>
              </a:rPr>
              <a:t>•  Interface web responsiva (desktop, tablet e mobile)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Arquitetura Lógica da Aplicação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100584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196596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1965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Frontend</a:t>
            </a:r>
          </a:p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(React + Vite)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377440"/>
            <a:ext cx="1965960" cy="100584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8920" y="2377440"/>
            <a:ext cx="196596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487168"/>
            <a:ext cx="1965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API Django</a:t>
            </a:r>
          </a:p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(REST Framework)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377440"/>
            <a:ext cx="1965960" cy="100584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2377440"/>
            <a:ext cx="196596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487168"/>
            <a:ext cx="1965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Redis</a:t>
            </a:r>
          </a:p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(fila de tarefas)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2377440"/>
            <a:ext cx="1965960" cy="100584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9480" y="2377440"/>
            <a:ext cx="196596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487168"/>
            <a:ext cx="1965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Celery Worker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377440"/>
            <a:ext cx="2331720" cy="100584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2377440"/>
            <a:ext cx="233172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2487168"/>
            <a:ext cx="2331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Container Docker</a:t>
            </a:r>
          </a:p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(execução da pipeline)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2697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697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697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697480"/>
            <a:ext cx="45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6FEB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A5568"/>
                </a:solidFill>
                <a:latin typeface="Calibri"/>
              </a:rPr>
              <a:t>Após a execução, logs e status retornam à API e ficam disponíveis na interface e via endpoint REST.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43484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1. Usuário aciona a API (UI ou client externo)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2. A API grava o run e enfileira a tarefa no Redis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3. Um Celery Worker consome a fila e inicializa um container isolado para a pipeline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4. O container executa o script Python com suas próprias dependências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5. Logs e status são persistidos no banco e expostos via API/REST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TECNOLOGIA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Stack Tecnológica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56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Django 5 + Django REST Framework, drf-spectacular (OpenAPI), autenticação por 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7180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449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1071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React + Vite, editor de código Monaco, SPA responsiva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336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Execução assíncrona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9943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Celery + Redis (broker), Celery Beat para agendamento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4924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223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Isolamento de execução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8815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Docker (SDK Python), 1 container por execução de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78308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562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Banco de dados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22199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PostgreSQL (RDS), credenciais via AWS Secrets Manager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97180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97180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0449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Armazenamento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41071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AWS S3 (scripts, dados de entrada/saída das pipelines)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6052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16052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336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Infraestrutura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59943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Terraform (IaC) sobre AWS: VPC, EC2, RDS, S3, IAM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5349240"/>
            <a:ext cx="525780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5349240"/>
            <a:ext cx="73152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4223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0F213B"/>
                </a:solidFill>
                <a:latin typeface="Calibri"/>
              </a:rPr>
              <a:t>Proxy/Servidor web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788152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5568"/>
                </a:solidFill>
                <a:latin typeface="Calibri"/>
              </a:rPr>
              <a:t>Nginx (frontend estático + proxy reverso para a API)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Gestão de Credenciais: AWS Secrets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568"/>
                </a:solidFill>
                <a:latin typeface="Calibri"/>
              </a:rPr>
              <a:t>As credenciais do banco de dados nunca ficam em texto plano na aplicação ou em arquivos de configuração.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532888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F213B"/>
                </a:solidFill>
                <a:latin typeface="Calibri"/>
              </a:rPr>
              <a:t>O RDS gera e gerencia automaticamente um secret com usuário e senha do banco (rotação nativa da AWS).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27832"/>
            <a:ext cx="5029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4612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F213B"/>
                </a:solidFill>
                <a:latin typeface="Calibri"/>
              </a:rPr>
              <a:t>A aplicação recebe apenas o identificador (ARN) desse secret via variável de ambiente.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41064"/>
            <a:ext cx="5029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410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59352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F213B"/>
                </a:solidFill>
                <a:latin typeface="Calibri"/>
              </a:rPr>
              <a:t>No boot, a aplicação busca o secret no AWS Secrets Manager usando a IAM Role da instância — sem nenhuma chave de acesso estática.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54296"/>
            <a:ext cx="5029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542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672584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F213B"/>
                </a:solidFill>
                <a:latin typeface="Calibri"/>
              </a:rPr>
              <a:t>Host, porta e nome do banco vêm de variáveis de ambiente próprias (o secret gerenciado só contém usuário/senha).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67528"/>
            <a:ext cx="5029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675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8581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0F213B"/>
                </a:solidFill>
                <a:latin typeface="Calibri"/>
              </a:rPr>
              <a:t>Se qualquer etapa falhar (permissão, secret inexistente, etc.), a aplicação recusa subir — comportamento fail-fast, sem credenciais incorretas silenciosas.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INFRAESTRUTURA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Infraestrutura como Código (Terraform)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568"/>
                </a:solidFill>
                <a:latin typeface="Calibri"/>
              </a:rPr>
              <a:t>Toda a infraestrutura AWS é versionada em código, organizada em módulos reutilizáveis.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bootstrap/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State remoto: bucket S3 + tabela DynamoDB (aplicado uma única vez)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modules/network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VPC dedicada, subnet pública (EC2) + subnets privadas (RDS)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modules/security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1772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Security Groups: SSH restrito, HTTPS restrito, HTTP só p/ validação TLS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modules/s3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7784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Bucket privado, versionado e criptografado para as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37744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modules/rds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Banco PostgreSQL com credenciais geridas pelo Secrets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33756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modules/iam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65760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IAM Role da instância — permissões mínimas (Secrets Manager, S3, SSM)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29768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modules/compute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61772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Instância EC2 + IP fixo (Elastic IP) + bootstrap de ferramentas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25780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F6FEB"/>
                </a:solidFill>
                <a:latin typeface="Consolas"/>
              </a:rPr>
              <a:t>envs/prod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77840"/>
            <a:ext cx="5257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Une todos os módulos com o backend de state remoto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INFRAESTRUTURA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Arquitetura de Rede na AWS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10424160" cy="4023360"/>
          </a:xfrm>
          <a:prstGeom prst="rect">
            <a:avLst/>
          </a:prstGeom>
          <a:solidFill>
            <a:srgbClr val="EEF3FB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01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VPC dedicada (10.20.0.0/16)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468880"/>
            <a:ext cx="44805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514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5568"/>
                </a:solidFill>
                <a:latin typeface="Calibri"/>
              </a:rPr>
              <a:t>Subnet pública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2926080"/>
            <a:ext cx="3931920" cy="128016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EC2 (t3.medium) + Elastic 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364992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Nginx · Django (Gunicorn) · Celery Worker/Beat · Redis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4434840"/>
            <a:ext cx="3931920" cy="96012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526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86A00"/>
                </a:solidFill>
                <a:latin typeface="Calibri"/>
              </a:rPr>
              <a:t>Security Group (EC2)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84632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5568"/>
                </a:solidFill>
                <a:latin typeface="Calibri"/>
              </a:rPr>
              <a:t>22 (SSH): só IP admin · 443: só IPs internos/VPN · 80: validação TLS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2468880"/>
            <a:ext cx="44805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2514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5568"/>
                </a:solidFill>
                <a:latin typeface="Calibri"/>
              </a:rPr>
              <a:t>Subnets privadas (2 AZs)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926080"/>
            <a:ext cx="3931920" cy="128016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0175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213B"/>
                </a:solidFill>
                <a:latin typeface="Calibri"/>
              </a:rPr>
              <a:t>RDS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64992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db.t4g.micro · Single-AZ · sem IP público</a:t>
            </a:r>
          </a:p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credenciais via Secrets Manager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434840"/>
            <a:ext cx="3931920" cy="96012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5262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86A00"/>
                </a:solidFill>
                <a:latin typeface="Calibri"/>
              </a:rPr>
              <a:t>Security Group (RDS)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4632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5568"/>
                </a:solidFill>
                <a:latin typeface="Calibri"/>
              </a:rPr>
              <a:t>5432: só a partir do Security Group da EC2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98932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4A5568"/>
                </a:solidFill>
                <a:latin typeface="Calibri"/>
              </a:rPr>
              <a:t>Sem NAT Gateway (não necessário) · Sem Application Load Balancer · IAM Role sem chaves estáticas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Decisões de Arquitetura para Redução de Custo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0F213B"/>
                </a:solidFill>
                <a:latin typeface="Calibri"/>
              </a:rPr>
              <a:t>NAT Gateway removido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O banco não precisa de saída à internet para funcionar — economia de ~US$ 32-38/mês sem perda de isolamento.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0F213B"/>
                </a:solidFill>
                <a:latin typeface="Calibri"/>
              </a:rPr>
              <a:t>Sem Application Load Balancer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TLS via Certbot direto na instância em vez de ALB + ACM — economia de ~US$ 16-20/mês.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0F213B"/>
                </a:solidFill>
                <a:latin typeface="Calibri"/>
              </a:rPr>
              <a:t>RDS PostgreSQL em vez de Aurora Serverless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Aurora Serverless v2 tem piso de custo (~US$ 40+/mês mesmo ocioso); um RDS Postgres pequeno atende ao mesmo propósito por uma fração do preço.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0F213B"/>
                </a:solidFill>
                <a:latin typeface="Calibri"/>
              </a:rPr>
              <a:t>Single-AZ, sem réplicas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Adequado para o estágio atual (validação); redundância pode ser adicionada quando houver uso em produção real.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0F213B"/>
                </a:solidFill>
                <a:latin typeface="Calibri"/>
              </a:rPr>
              <a:t>Ambiente descartável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4A5568"/>
                </a:solidFill>
                <a:latin typeface="Calibri"/>
              </a:rPr>
              <a:t>Toda a infraestrutura é recriável via Terraform — pode ser desligada (terraform destroy) fora de janelas de uso, cobrando apenas centavos de armazenamento de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Estimativa de Custos Mensais (região us-east-1)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11155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651760"/>
                <a:gridCol w="4297680"/>
              </a:tblGrid>
              <a:tr h="4622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 marL="91440" marR="91440" marT="36576" marB="36576" anchor="ctr">
                    <a:solidFill>
                      <a:srgbClr val="0F21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Custo aproximado (US$/mês)</a:t>
                      </a:r>
                    </a:p>
                  </a:txBody>
                  <a:tcPr marL="91440" marR="91440" marT="36576" marB="36576" anchor="ctr">
                    <a:solidFill>
                      <a:srgbClr val="0F21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Observação</a:t>
                      </a:r>
                    </a:p>
                  </a:txBody>
                  <a:tcPr marL="91440" marR="91440" marT="36576" marB="36576" anchor="ctr">
                    <a:solidFill>
                      <a:srgbClr val="0F213B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EC2 t3.medium (24/7)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~30,00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On-demand; pode ser reduzida ajustando a carga de trabalho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RDS db.t4g.micro (Single-AZ)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0,00 – 12,00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Elegível a free tier em contas novas/elegíveis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S3 (bucket de pipelines)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&lt; 1,00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Cobrança só pelo armazenamento efetivamente usado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AWS Secrets Manager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Um secret (credenciais do banco, gerenciado pela RDS)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S3 + DynamoDB (Terraform state)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&lt; 0,50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Uso mínimo, cobrança por requisição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Elastic IP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Gratuito enquanto associado a uma instância em execução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NAT Gateway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0,00 (não utilizado)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Removido do desenho — economia de referência: ~32-38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Application Load Balancer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6FEB"/>
                          </a:solidFill>
                          <a:latin typeface="Calibri"/>
                        </a:rPr>
                        <a:t>0,00 (não utilizado)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213B"/>
                          </a:solidFill>
                          <a:latin typeface="Calibri"/>
                        </a:rPr>
                        <a:t>Removido do desenho — economia de referência: ~16-20</a:t>
                      </a:r>
                    </a:p>
                  </a:txBody>
                  <a:tcPr marL="91440" marR="91440" marT="36576" marB="36576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989320"/>
            <a:ext cx="11155680" cy="502920"/>
          </a:xfrm>
          <a:prstGeom prst="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0350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8E3E"/>
                </a:solidFill>
                <a:latin typeface="Calibri"/>
              </a:rPr>
              <a:t>Total estimado: aproximadamente US$ 31 a 43/mês (ambiente de validação, uso contínuo)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Taxas e Observações Financeiras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450">
                <a:solidFill>
                  <a:srgbClr val="0F213B"/>
                </a:solidFill>
                <a:latin typeface="Calibri"/>
              </a:rPr>
              <a:t>•  A AWS fatura em dólar (US$); a conversão para R$ varia com a cotação do dia — confirme o valor atualizado no fechamento do período de faturamento.</a:t>
            </a:r>
          </a:p>
          <a:p>
            <a:pPr>
              <a:spcAft>
                <a:spcPts val="1800"/>
              </a:spcAft>
            </a:pPr>
            <a:r>
              <a:rPr sz="1450">
                <a:solidFill>
                  <a:srgbClr val="0F213B"/>
                </a:solidFill>
                <a:latin typeface="Calibri"/>
              </a:rPr>
              <a:t>•  Recursos como EC2 e RDS são cobrados por hora de uso ("pay-as-you-go") — desligar/destruir o ambiente fora de uso interrompe a cobrança desses itens imediatamente.</a:t>
            </a:r>
          </a:p>
          <a:p>
            <a:pPr>
              <a:spcAft>
                <a:spcPts val="1800"/>
              </a:spcAft>
            </a:pPr>
            <a:r>
              <a:rPr sz="1450">
                <a:solidFill>
                  <a:srgbClr val="0F213B"/>
                </a:solidFill>
                <a:latin typeface="Calibri"/>
              </a:rPr>
              <a:t>•  S3, Secrets Manager e DynamoDB são cobrados por uso real (armazenamento/requisições), não por hora — custo residual mesmo com o ambiente desligado é de poucos centavos.</a:t>
            </a:r>
          </a:p>
          <a:p>
            <a:pPr>
              <a:spcAft>
                <a:spcPts val="1800"/>
              </a:spcAft>
            </a:pPr>
            <a:r>
              <a:rPr sz="1450">
                <a:solidFill>
                  <a:srgbClr val="0F213B"/>
                </a:solidFill>
                <a:latin typeface="Calibri"/>
              </a:rPr>
              <a:t>•  Contas AWS novas ou elegíveis ao Free Tier podem ter os primeiros 12 meses de RDS db.t4g.micro (750h/mês) sem custo — validar elegibilidade no console AWS.</a:t>
            </a:r>
          </a:p>
          <a:p>
            <a:pPr>
              <a:spcAft>
                <a:spcPts val="1800"/>
              </a:spcAft>
            </a:pPr>
            <a:r>
              <a:rPr sz="1450">
                <a:solidFill>
                  <a:srgbClr val="0F213B"/>
                </a:solidFill>
                <a:latin typeface="Calibri"/>
              </a:rPr>
              <a:t>•  Estratégia recomendada para ambiente de testes: aplicar a infraestrutura (terraform apply) apenas durante o período de uso e destruí-la (terraform destroy) entre sessões — reduz o custo mensal a poucos centavos.</a:t>
            </a:r>
          </a:p>
          <a:p>
            <a:pPr>
              <a:spcAft>
                <a:spcPts val="1800"/>
              </a:spcAft>
            </a:pPr>
            <a:r>
              <a:rPr sz="1450">
                <a:solidFill>
                  <a:srgbClr val="0F213B"/>
                </a:solidFill>
                <a:latin typeface="Calibri"/>
              </a:rPr>
              <a:t>•  Valores desta apresentação são estimativas de referência (calculadora AWS); custos reais podem variar por região, promoções vigentes e padrão de uso.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Modelo de Acesso: Aplicação de Uso Interno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Nenhuma credencial AWS estática em nenhum componente — autenticação sempre via IAM Role da instância.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Banco de dados sem IP público, acessível apenas a partir do Security Group da própria aplicação.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Acesso SSH restrito a um único IP administrativo — nunca aberto para a internet.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Acesso à aplicação (HTTPS) restrito a IPs da rede corporativa/VPN — não é uma aplicação pública.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Porta HTTP mantida aberta apenas para a validação automática do certificado TLS (Let's Encrypt); nenhum dado real trafega nela.</a:t>
            </a:r>
          </a:p>
          <a:p>
            <a:pPr>
              <a:spcAft>
                <a:spcPts val="1800"/>
              </a:spcAft>
            </a:pPr>
            <a:r>
              <a:rPr sz="1500">
                <a:solidFill>
                  <a:srgbClr val="0F213B"/>
                </a:solidFill>
                <a:latin typeface="Calibri"/>
              </a:rPr>
              <a:t>•  Canal de acesso de emergência via AWS Systems Manager (Session Manager), independente da porta SSH.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Lição Aprendida: Dimensionamento de Recursos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881360" cy="137160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02A2A"/>
                </a:solidFill>
                <a:latin typeface="Calibri"/>
              </a:rPr>
              <a:t>O que aconteceu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213B"/>
                </a:solidFill>
                <a:latin typeface="Calibri"/>
              </a:rPr>
              <a:t>A concorrência do worker de processamento (Celery) foi configurada com um valor alto demais para o tamanho da instância, saturando a memória disponível e impedindo até o acesso remoto à máquina.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37560"/>
            <a:ext cx="10881360" cy="1371600"/>
          </a:xfrm>
          <a:prstGeom prst="rect">
            <a:avLst/>
          </a:prstGeom>
          <a:solidFill>
            <a:srgbClr val="EA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7A34"/>
                </a:solidFill>
                <a:latin typeface="Calibri"/>
              </a:rPr>
              <a:t>Como foi resolvido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213B"/>
                </a:solidFill>
                <a:latin typeface="Calibri"/>
              </a:rPr>
              <a:t>A instância foi redimensionada temporariamente, a configuração de concorrência foi reduzida a um valor compatível com o hardware, e um canal de acesso alternativo (SSM) foi adicionado para situações futuras semelhantes.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13B"/>
                </a:solidFill>
                <a:latin typeface="Calibri"/>
              </a:rPr>
              <a:t>Melhoria aplicada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9496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Valores padrão de configuração foram ajustados no repositório para refletir o tamanho real de instância recomendado, evitando repetição do problema.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6FEB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213B"/>
                </a:solidFill>
                <a:latin typeface="Calibri"/>
              </a:rPr>
              <a:t>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0584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6FEB"/>
                </a:solidFill>
                <a:latin typeface="Calibri"/>
              </a:rPr>
              <a:t>Curto prazo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Configurar domínio próprio e certificado TLS (HTTPS) definitivo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Definir e aplicar os IPs reais de acesso interno (escritório/VPN)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Avaliar retorno ao tamanho de instância menor após estabilização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6FEB"/>
                </a:solidFill>
                <a:latin typeface="Calibri"/>
              </a:rPr>
              <a:t>Médio prazo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154680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Automatizar o deploy da aplicação (hoje manual) via pipeline de CI/CD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Avaliar Multi-AZ no banco de dados para maior disponibilidade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Monitoramento e alertas (métricas de uso, custo e saúde da aplicação)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6FEB"/>
                </a:solidFill>
                <a:latin typeface="Calibri"/>
              </a:rPr>
              <a:t>Longo prazo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8412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Plano de migração de dados históricos, se aplicável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F213B"/>
                </a:solidFill>
                <a:latin typeface="Calibri"/>
              </a:rPr>
              <a:t>•  Revisão de arquitetura para cenário de produção com usuários externos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99"/>
                </a:solidFill>
                <a:latin typeface="Calibri"/>
              </a:rPr>
              <a:t>Analytic Eyes — Plataforma de Orquestração de Pipelines ETL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FC1FF"/>
                </a:solidFill>
                <a:latin typeface="Calibri"/>
              </a:rPr>
              <a:t>Dúvidas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9C7DE"/>
                </a:solidFill>
                <a:latin typeface="Calibri"/>
              </a:rPr>
              <a:t>Documentação técnica completa disponível em documento complementar.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